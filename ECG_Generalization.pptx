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Macro F1 by Lead  (OOD Datasets)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Chapman OOD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aVR</c:v>
                  </c:pt>
                  <c:pt idx="1">
                    <c:v>I</c:v>
                  </c:pt>
                  <c:pt idx="2">
                    <c:v>II</c:v>
                  </c:pt>
                  <c:pt idx="3">
                    <c:v>aVF</c:v>
                  </c:pt>
                  <c:pt idx="4">
                    <c:v>aVL</c:v>
                  </c:pt>
                  <c:pt idx="5">
                    <c:v>V5</c:v>
                  </c:pt>
                  <c:pt idx="6">
                    <c:v>V6</c:v>
                  </c:pt>
                  <c:pt idx="7">
                    <c:v>V1</c:v>
                  </c:pt>
                  <c:pt idx="8">
                    <c:v>III</c:v>
                  </c:pt>
                  <c:pt idx="9">
                    <c:v>V4</c:v>
                  </c:pt>
                  <c:pt idx="10">
                    <c:v>V3</c:v>
                  </c:pt>
                  <c:pt idx="11">
                    <c:v>V2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0.4448</c:v>
                </c:pt>
                <c:pt idx="1">
                  <c:v>0.4354</c:v>
                </c:pt>
                <c:pt idx="2">
                  <c:v>0.4285</c:v>
                </c:pt>
                <c:pt idx="3">
                  <c:v>0.4245</c:v>
                </c:pt>
                <c:pt idx="4">
                  <c:v>0.4037</c:v>
                </c:pt>
                <c:pt idx="5">
                  <c:v>0.4182</c:v>
                </c:pt>
                <c:pt idx="6">
                  <c:v>0.3981</c:v>
                </c:pt>
                <c:pt idx="7">
                  <c:v>0.396</c:v>
                </c:pt>
                <c:pt idx="8">
                  <c:v>0.3958</c:v>
                </c:pt>
                <c:pt idx="9">
                  <c:v>0.3618</c:v>
                </c:pt>
                <c:pt idx="10">
                  <c:v>0.3771</c:v>
                </c:pt>
                <c:pt idx="11">
                  <c:v>0.3769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Georgia OOD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aVR</c:v>
                  </c:pt>
                  <c:pt idx="1">
                    <c:v>I</c:v>
                  </c:pt>
                  <c:pt idx="2">
                    <c:v>II</c:v>
                  </c:pt>
                  <c:pt idx="3">
                    <c:v>aVF</c:v>
                  </c:pt>
                  <c:pt idx="4">
                    <c:v>aVL</c:v>
                  </c:pt>
                  <c:pt idx="5">
                    <c:v>V5</c:v>
                  </c:pt>
                  <c:pt idx="6">
                    <c:v>V6</c:v>
                  </c:pt>
                  <c:pt idx="7">
                    <c:v>V1</c:v>
                  </c:pt>
                  <c:pt idx="8">
                    <c:v>III</c:v>
                  </c:pt>
                  <c:pt idx="9">
                    <c:v>V4</c:v>
                  </c:pt>
                  <c:pt idx="10">
                    <c:v>V3</c:v>
                  </c:pt>
                  <c:pt idx="11">
                    <c:v>V2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0.5256</c:v>
                </c:pt>
                <c:pt idx="1">
                  <c:v>0.5065</c:v>
                </c:pt>
                <c:pt idx="2">
                  <c:v>0.5012</c:v>
                </c:pt>
                <c:pt idx="3">
                  <c:v>0.4669</c:v>
                </c:pt>
                <c:pt idx="4">
                  <c:v>0.4617</c:v>
                </c:pt>
                <c:pt idx="5">
                  <c:v>0.4828</c:v>
                </c:pt>
                <c:pt idx="6">
                  <c:v>0.4853</c:v>
                </c:pt>
                <c:pt idx="7">
                  <c:v>0.503</c:v>
                </c:pt>
                <c:pt idx="8">
                  <c:v>0.4667</c:v>
                </c:pt>
                <c:pt idx="9">
                  <c:v>0.4877</c:v>
                </c:pt>
                <c:pt idx="10">
                  <c:v>0.4786</c:v>
                </c:pt>
                <c:pt idx="11">
                  <c:v>0.4458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.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Per-Class F1: Best Single Lead (aVR) vs 12-Lead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aVR → Chapman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</c:v>
                  </c:pt>
                  <c:pt idx="1">
                    <c:v>MI</c:v>
                  </c:pt>
                  <c:pt idx="2">
                    <c:v>STTC</c:v>
                  </c:pt>
                  <c:pt idx="3">
                    <c:v>CD</c:v>
                  </c:pt>
                  <c:pt idx="4">
                    <c:v>HYP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0.847</c:v>
                </c:pt>
                <c:pt idx="1">
                  <c:v>0.151</c:v>
                </c:pt>
                <c:pt idx="2">
                  <c:v>0.697</c:v>
                </c:pt>
                <c:pt idx="3">
                  <c:v>0.348</c:v>
                </c:pt>
                <c:pt idx="4">
                  <c:v>0.181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aVR → Georgia</c:v>
                </c:pt>
              </c:strCache>
            </c:strRef>
          </c:tx>
          <c:spPr>
            <a:solidFill>
              <a:srgbClr val="0369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</c:v>
                  </c:pt>
                  <c:pt idx="1">
                    <c:v>MI</c:v>
                  </c:pt>
                  <c:pt idx="2">
                    <c:v>STTC</c:v>
                  </c:pt>
                  <c:pt idx="3">
                    <c:v>CD</c:v>
                  </c:pt>
                  <c:pt idx="4">
                    <c:v>HYP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0.67</c:v>
                </c:pt>
                <c:pt idx="1">
                  <c:v>0.145</c:v>
                </c:pt>
                <c:pt idx="2">
                  <c:v>0.752</c:v>
                </c:pt>
                <c:pt idx="3">
                  <c:v>0.651</c:v>
                </c:pt>
                <c:pt idx="4">
                  <c:v>0.41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12-Lead → Chapman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</c:v>
                  </c:pt>
                  <c:pt idx="1">
                    <c:v>MI</c:v>
                  </c:pt>
                  <c:pt idx="2">
                    <c:v>STTC</c:v>
                  </c:pt>
                  <c:pt idx="3">
                    <c:v>CD</c:v>
                  </c:pt>
                  <c:pt idx="4">
                    <c:v>HYP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0.754</c:v>
                </c:pt>
                <c:pt idx="1">
                  <c:v>0.216</c:v>
                </c:pt>
                <c:pt idx="2">
                  <c:v>0.646</c:v>
                </c:pt>
                <c:pt idx="3">
                  <c:v>0.367</c:v>
                </c:pt>
                <c:pt idx="4">
                  <c:v>0.143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12-Lead → Georgia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</c:v>
                  </c:pt>
                  <c:pt idx="1">
                    <c:v>MI</c:v>
                  </c:pt>
                  <c:pt idx="2">
                    <c:v>STTC</c:v>
                  </c:pt>
                  <c:pt idx="3">
                    <c:v>CD</c:v>
                  </c:pt>
                  <c:pt idx="4">
                    <c:v>HYP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0.573</c:v>
                </c:pt>
                <c:pt idx="1">
                  <c:v>0.095</c:v>
                </c:pt>
                <c:pt idx="2">
                  <c:v>0.681</c:v>
                </c:pt>
                <c:pt idx="3">
                  <c:v>0.658</c:v>
                </c:pt>
                <c:pt idx="4">
                  <c:v>0.503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ECG Cross-Dataset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Generalization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0040" y="246888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PTB-XL → Chapman &amp; Georgia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Single-Lead vs 12-Lead OOD Robustness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3291840"/>
            <a:ext cx="5394960" cy="1554480"/>
          </a:xfrm>
          <a:prstGeom prst="rect">
            <a:avLst/>
          </a:prstGeom>
          <a:solidFill>
            <a:srgbClr val="112233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34290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Core Problem: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ECG AI models trained on one hospital dataset fail when deployed at another. We systematically evaluate how many leads are truly needed for robust, cross-dataset cardiac arrhythmia classification.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005840"/>
            <a:ext cx="23774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051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Datasets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331720"/>
            <a:ext cx="23774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3774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0" y="29718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Arrhythmia Classes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3657600"/>
            <a:ext cx="23774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3703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0" y="42976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Leads Compared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SUMMARY OF REFERENCES  —  PART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41248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052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Wagner et al. (2020)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PTB-XL 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Large 12-lead ECG benchmark with 71,000 records and 5 superclass labels; the standard training corpus for ECG ML.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22128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212848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768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Strodthoff et al. (2021)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5146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Deep Learning for ECG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7249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ResNet-based architectures outperform classical baselines on PTB-XL; macro F1 is the preferred metric for imbalanced classes.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5844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584448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484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Ribeiro et al. (2020)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886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Telemed. ECG 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0965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Single-lead (lead I) DNN achieves cardiologist-level accuracy on 6 rhythms — evidence that one lead may suffice.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8412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41248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9052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Hannun et al. (2019)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143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Cardiologist-Level Arrhythmia Detection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13533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Single-lead (lead II) achieves cardiologist-level accuracy on 12 rhythms using a deep residual network.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2128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12848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2768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Zheng et al. (2020)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5146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Chapman Dataset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7249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12-lead, 500 Hz, 45,000 records from Chapman University hospital. Annotated with SNOMED-CT codes.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844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84448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6484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Alday et al. (2020)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886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Georgia 12-Lead Challenge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40965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PhysioNet 2020 challenge dataset; 10,000 records from Georgia, USA — diverse demographic representation.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SUMMARY OF REFERENCES  —  PART 2  |  GAPS IDENTIFIED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41248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052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Chen et al. (2021)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Domain Shift in ECG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Models trained on one institution degrade 15–40% on external cohorts due to electrode placement and ADC differences.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22128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212848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768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Natarajan et al. (2020)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5146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Wide &amp; Deep ECG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7249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Multi-dataset training with demographic features improves OOD robustness on PhysioNet challenge data.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5844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584448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484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Raghu et al. (2019)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886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Transfusion: Transfer Learning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0965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ImageNet features transfer poorly to medical imaging — domain-specific pretraining consistently wins.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8412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41248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9052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He et al. (2016)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143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ResNet Architecture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13533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Deep residual networks with skip connections solve vanishing gradients; adapted widely for 1D biosignal classification.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2128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12848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2768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Lin et al. (2017)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5146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Focal Loss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7249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Reweighting loss by prediction confidence helps minority classes; analogous motivation to our pos_weight fix.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844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84448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6484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Goldberger et al. (2000)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886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PhysioBank / PhysioNet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40965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Open platform hosting ECG benchmarks; underpins reproducibility for Georgia and other challenge datasets.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4709160"/>
            <a:ext cx="8686800" cy="30175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7274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KEY GAPS: </a:t>
            </a:r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No study directly compares all 12 leads under identical training conditions for OOD generalization  •  No work quantifies whether 12-lead models truly outperform single-lead on cross-hospital data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ARCHITECTURE &amp; METHODOLOGY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96596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04672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PTB-XL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21,387 ECGs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12-lead / 100Hz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58568" y="1261872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804672"/>
            <a:ext cx="196596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804672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Downsample 500→100Hz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SNOMED→5 Superclass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53128" y="1261872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04672"/>
            <a:ext cx="19659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804672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ResNet18-1D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1-lead or 12-lead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in_channels=1 or 12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47688" y="1261872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804672"/>
            <a:ext cx="196596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804672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OOD Eval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Chapman 38,975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Georgia 9,918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212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ResNet18-1D  —  Block Structure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578608"/>
            <a:ext cx="128016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578608"/>
            <a:ext cx="1280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Conv1D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64ch, k=7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572768" y="2926080"/>
            <a:ext cx="100584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91640" y="2578608"/>
            <a:ext cx="1280160" cy="804672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91640" y="2578608"/>
            <a:ext cx="1280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ResBlock×2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64ch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90088" y="2926080"/>
            <a:ext cx="100584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2578608"/>
            <a:ext cx="1280160" cy="804672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08960" y="2578608"/>
            <a:ext cx="1280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ResBlock×2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128ch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07408" y="2926080"/>
            <a:ext cx="100584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2578608"/>
            <a:ext cx="1280160" cy="804672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26280" y="2578608"/>
            <a:ext cx="1280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ResBlock×2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256ch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24728" y="2926080"/>
            <a:ext cx="100584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578608"/>
            <a:ext cx="1280160" cy="804672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0" y="2578608"/>
            <a:ext cx="1280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ResBlock×2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512ch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42048" y="2926080"/>
            <a:ext cx="100584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60920" y="2578608"/>
            <a:ext cx="128016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60920" y="2578608"/>
            <a:ext cx="1280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FC(5)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35661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Training Hyperparameters  (matched across all models)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86200"/>
          <a:ext cx="5029200" cy="1115568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</a:tblGrid>
              <a:tr h="159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159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Loss Function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BCEWithLogitsLoss + pos_weight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Optimizer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Adam  lr=1e-3,  wd=1e-4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Scheduler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CosineAnnealingLR  (T=50, η_min=1e-5)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Epochs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Dropout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Grad Clip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max_norm = 1.0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 32"/>
          <p:cNvSpPr/>
          <p:nvPr/>
        </p:nvSpPr>
        <p:spPr>
          <a:xfrm>
            <a:off x="5486400" y="22128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Key Design Decisions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486400" y="2578608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532120" y="259689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①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879592" y="261518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pos_weight per class — corrects MI/HYP imbalance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486400" y="3236976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5532120" y="325526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②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5879592" y="32735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Dropout 0.3 (not 0.5) — prevents underfitting on 1-channel input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486400" y="3895344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5532120" y="391363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③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5879592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Same hyperparams across all 13 models — isolates lead count as sole variable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486400" y="4553712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5532120" y="4572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④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5879592" y="45902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OOD eval on 2 external datasets — Chapman &amp; Georgia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RESULTS  —  LEAD-BY-LEAD OOD PERFORMANCE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669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822960"/>
            <a:ext cx="27432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45352" y="896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#1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766560" y="896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aVR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0" y="12252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Avg OOD F1: 0.485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45352" y="15087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Best avg OOD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across both datasets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72200" y="2212848"/>
            <a:ext cx="27432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45352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#2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76656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Lead I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766560" y="26151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Avg OOD F1: 0.471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45352" y="289864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Strong limb lead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low domain shift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72200" y="3602736"/>
            <a:ext cx="27432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45352" y="3675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⚠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766560" y="36758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V2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766560" y="4005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Avg OOD F1: 0.411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45352" y="428853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Worst OOD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high domain sensitivity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72200" y="4645152"/>
            <a:ext cx="274320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36208" y="46634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Limb leads (I, II, aVR) &gt; Chest leads (V1–V6) on OOD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RESULTS  —  PER-CLASS F1  &amp;  12-LEAD vs BEST SINGLE LEAD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49808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06440" y="74980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12-Lead vs Best Single Lead (aVR)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051560"/>
          <a:ext cx="3108960" cy="822960"/>
        </p:xfrm>
        <a:graphic>
          <a:graphicData uri="http://schemas.openxmlformats.org/drawingml/2006/table">
            <a:tbl>
              <a:tblPr/>
              <a:tblGrid>
                <a:gridCol w="1097280"/>
                <a:gridCol w="685800"/>
                <a:gridCol w="777240"/>
                <a:gridCol w="548640"/>
              </a:tblGrid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12-Lead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Chapman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0.445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0.425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−0.020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Georgia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0.526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0.502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−0.024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PTB-XL 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0.634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0.668*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+0.034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806440" y="190195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* 12-lead PTB-XL test F1 from train12lead.py checkpoint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5806440" y="2194560"/>
            <a:ext cx="3108960" cy="1600200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943600" y="2286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943600" y="2578608"/>
            <a:ext cx="2834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The 12-lead model scores higher on the training distribution (PTB-XL ID) but LOWER on both OOD datasets. More leads → more overfitting to dataset-specific inter-lead correlations, not better generalization.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74320" y="4114800"/>
            <a:ext cx="5394960" cy="896112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4187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MI &amp; HYP Findings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44348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MI F1 = 0.09–0.22 and HYP F1 = 0.11–0.45 across ALL models and leads on OOD data. This is a label mapping problem — SNOMED→PTB superclass alignment for MI and HYP is inconsistent across datasets, not a model failure.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806440" y="3977640"/>
            <a:ext cx="3108960" cy="102412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43600" y="40507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Chapman vs Georgia Gap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943600" y="4297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All leads score ~0.05–0.08 higher on Georgia than Chapman. Chapman presents a harder domain shift, likely due to different patient demographics or recording hardware.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RESULTS  —  FULL COMPARISON TABLE  &amp;  CONCLUSIONS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5212080" cy="4160520"/>
        </p:xfrm>
        <a:graphic>
          <a:graphicData uri="http://schemas.openxmlformats.org/drawingml/2006/table">
            <a:tbl>
              <a:tblPr/>
              <a:tblGrid>
                <a:gridCol w="594360"/>
                <a:gridCol w="1143000"/>
                <a:gridCol w="1143000"/>
                <a:gridCol w="1143000"/>
                <a:gridCol w="777240"/>
                <a:gridCol w="41148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Lead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PTB-XL ID F1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Chapman OOD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Georgia OOD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OOD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aVR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0.634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0.445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0.526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0.485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🥇 1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0.604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0.435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0.506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0.471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🥈 2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II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0.623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0.429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0.501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0.465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V5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0.638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0.418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0.483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0.450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V1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0.601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0.396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0.503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0.450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aVF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0.577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0.425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0.467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0.446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V6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0.650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0.398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0.485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0.442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aVL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0.561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0.404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0.462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0.433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III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0.541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0.396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0.467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0.431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V3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0.576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0.377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0.479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0.428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V4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0.605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0.362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0.488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0.425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V2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0.565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0.377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0.446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0.411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⚠ 12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i="1" dirty="0">
                          <a:solidFill>
                            <a:srgbClr val="0D1B2A"/>
                          </a:solidFill>
                        </a:rPr>
                        <a:t>12-Lead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0.668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0.425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0.502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D1B2A"/>
                          </a:solidFill>
                        </a:rPr>
                        <a:t>0.464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777240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777240"/>
            <a:ext cx="47548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777240"/>
            <a:ext cx="475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90488" y="8321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aVR Dominates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90488" y="1115568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aVR is the single best lead for cross-hospital ECG generalization — both highest OOD F1 and highest ID F1 among single leads.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1801368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1801368"/>
            <a:ext cx="47548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1801368"/>
            <a:ext cx="475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90488" y="18562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Limb &gt; Chest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90488" y="2139696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Limb leads (I, II, aVR, aVL, aVF) consistently outperform precordial chest leads (V1–V6) on OOD data.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69280" y="2825496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2825496"/>
            <a:ext cx="47548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2825496"/>
            <a:ext cx="475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90488" y="28803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12-Lead Overfits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90488" y="3163824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12-lead model exceeds single-lead on PTB-XL ID but underperforms on both OOD sets — learns dataset-specific correlations.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669280" y="3849624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69280" y="3849624"/>
            <a:ext cx="47548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3849624"/>
            <a:ext cx="4754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190488" y="39044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Label Mapping Gap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90488" y="4187952"/>
            <a:ext cx="2606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MI and HYP classes remain poor across all settings — requires better SNOMED→superclass harmonization.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ECG Cross-Dataset Generalization</dc:title>
  <dc:subject>PptxGenJS Presentation</dc:subject>
  <dc:creator>PptxGenJS</dc:creator>
  <cp:lastModifiedBy>PptxGenJS</cp:lastModifiedBy>
  <cp:revision>1</cp:revision>
  <dcterms:created xsi:type="dcterms:W3CDTF">2026-03-08T16:00:23Z</dcterms:created>
  <dcterms:modified xsi:type="dcterms:W3CDTF">2026-03-08T16:00:23Z</dcterms:modified>
</cp:coreProperties>
</file>